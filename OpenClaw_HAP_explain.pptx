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99" Type="http://schemas.openxmlformats.org/officeDocument/2006/relationships/theme" Target="theme/them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C2E7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OpenClaw HAP 智能学习应用讲解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基于 Index.ets 的课程型 HAP 设计说明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应用定位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在 OpenHarmony HAP 内提供 AI 协同开发学习向导。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核心价值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把编译、签名、部署启动这些命令行流程变成可交互课程。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讲解范围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页面结构、状态机、OpenClaw 通信、三关任务流和演示路线。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742432"/>
            <a:ext cx="1060704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77819B"/>
                </a:solidFill>
                <a:latin typeface="Microsoft YaHei"/>
                <a:ea typeface="Microsoft YaHei"/>
              </a:rPr>
              <a:t>源文件：D:\DevEcoProjects\HelloHap\entry\src\main\ets\pages\Index.ets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这个 HAP 是什么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它不是普通 Hello World，而是一个教学控制台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入口页面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Index.ets 使用 @Entry 和 @Component 定义主页面。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模式切换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currentMode 控制主页、tutorial、terminal、openclaw 等界面。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学习流程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tutorialStep 控制选关、确认提示词、执行中、完成复盘、练习关卡。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右侧工作区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提供 OpenClaw 对话、源码文件、执行日志三个 Tab。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A6E3A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总体架构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HAP 负责交互编排，真实动作交给板端服务和 OpenClaw 网关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ArkUI 前端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渲染课程卡片、进度条、聊天气泡、源码区和日志区。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HTTP 服务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通过 127.0.0.1:7681 获取 token，并读取板端源码文件。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WebSocket 网关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连接 127.0.0.1:18800，发送 RPC 请求并接收流式事件。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HAP 流水线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compile_unsigned.sh -&gt; entry-unsigned.hap -&gt; 签名 -&gt; entry-signed.hap -&gt; 安装启动。</a:t>
            </a:r>
          </a:p>
        </p:txBody>
      </p:sp>
      <p:sp>
        <p:nvSpPr>
          <p:cNvPr id="18" name="Rect 18"/>
          <p:cNvSpPr/>
          <p:nvPr/>
        </p:nvSpPr>
        <p:spPr>
          <a:xfrm>
            <a:off x="7543800" y="1325880"/>
            <a:ext cx="4069080" cy="4160520"/>
          </a:xfrm>
          <a:prstGeom prst="roundRect">
            <a:avLst/>
          </a:prstGeom>
          <a:solidFill>
            <a:srgbClr val="0F121C"/>
          </a:solidFill>
          <a:ln w="12700">
            <a:solidFill>
              <a:srgbClr val="A6E3A1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772400" y="1554480"/>
            <a:ext cx="3611880" cy="3703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数据流：</a:t>
            </a:r>
          </a:p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用户选择关卡</a:t>
            </a:r>
          </a:p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-&gt; HAP 生成受控提示词</a:t>
            </a:r>
          </a:p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-&gt; OpenClaw 执行指定任务</a:t>
            </a:r>
          </a:p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-&gt; 返回执行结果</a:t>
            </a:r>
          </a:p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-&gt; UI 更新进度、日志和问答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AB387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核心状态设计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用状态变量把复杂课程流程变成可控状态机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AB387"/>
                </a:solidFill>
                <a:latin typeface="Microsoft YaHei"/>
                <a:ea typeface="Microsoft YaHei"/>
              </a:rPr>
              <a:t>selectedTaskIndex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0 未选择，1 编译，2 签名，3 部署启动，4 练习关卡。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AB387"/>
                </a:solidFill>
                <a:latin typeface="Microsoft YaHei"/>
                <a:ea typeface="Microsoft YaHei"/>
              </a:rPr>
              <a:t>maxUnlockedLevel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控制下一关是否解锁，完成一关后推进学习进度。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AB387"/>
                </a:solidFill>
                <a:latin typeface="Microsoft YaHei"/>
                <a:ea typeface="Microsoft YaHei"/>
              </a:rPr>
              <a:t>highestCompletedLevel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记录已完成关卡，支持回看学习记录。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AB387"/>
                </a:solidFill>
                <a:latin typeface="Microsoft YaHei"/>
                <a:ea typeface="Microsoft YaHei"/>
              </a:rPr>
              <a:t>step1Status 到 step6Status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每关内部步骤显示 todo、run、done 三种状态。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A6E3A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三关课程设计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把 OpenHarmony HAP 生命周期拆成三个连续挑战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第一关：编译 HAP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只运行 compile_unsigned.sh，验证 /data/local/tmp/entry-unsigned.hap。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第二关：数字签名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只执行 build_sign_install_run.sh --sign-only，验证 entry-signed.hap。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第三关：部署与启动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围绕已签名 HAP 完成卸载、安装、启动与状态验证。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练习关卡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完成三关后开放提示词练习，支持继续追问和完整流程演示。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OpenClaw 通信链路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Index.ets 内部实现了一个轻量 RPC 客户端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获取凭据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getOpenClawToken 访问 /token，保存 openClawToken。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建立连接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setupWebSocket 创建 WebSocket，并发送 connect 握手。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请求管理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pendingRequests 使用请求 id 匹配响应，避免多请求串线。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流式回复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handleChatStreamEvent 处理 delta、final、error，实时刷新对话区。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C2E7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提示词工程亮点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buildOpenClawPrompt 是课程边界和安全控制的关键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按关卡生成任务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不同 selectedTaskIndex 会生成不同任务名称、动作边界和验收条件。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明确允许行为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指定必须读取的记忆文件、允许执行的脚本和最终验证产物。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明确禁止行为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禁止跳关、改源码、提前签名、提前安装或启动应用。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66294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汇报要求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要求 OpenClaw 用中文汇报真实执行结果和产物状态。</a:t>
            </a:r>
          </a:p>
        </p:txBody>
      </p:sp>
      <p:sp>
        <p:nvSpPr>
          <p:cNvPr id="18" name="Rect 18"/>
          <p:cNvSpPr/>
          <p:nvPr/>
        </p:nvSpPr>
        <p:spPr>
          <a:xfrm>
            <a:off x="7543800" y="1325880"/>
            <a:ext cx="4069080" cy="4160520"/>
          </a:xfrm>
          <a:prstGeom prst="roundRect">
            <a:avLst/>
          </a:prstGeom>
          <a:solidFill>
            <a:srgbClr val="0F121C"/>
          </a:solidFill>
          <a:ln w="12700">
            <a:solidFill>
              <a:srgbClr val="F5C2E7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772400" y="1554480"/>
            <a:ext cx="3611880" cy="3703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DCE6FF"/>
                </a:solidFill>
                <a:latin typeface="Microsoft YaHei"/>
                <a:ea typeface="Microsoft YaHei"/>
              </a:rPr>
              <a:t>这让 AI 不是自由发挥，而是在 HAP 设定的教学边界内完成真实协同开发任务。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DD6F4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界面结构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主页、分屏课程页、WebView 辅助页三层组成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CDD6F4"/>
                </a:solidFill>
                <a:latin typeface="Microsoft YaHei"/>
                <a:ea typeface="Microsoft YaHei"/>
              </a:rPr>
              <a:t>主页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展示“OpenClaw 智能开发向导”，提供基础版入口和服务状态。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CDD6F4"/>
                </a:solidFill>
                <a:latin typeface="Microsoft YaHei"/>
                <a:ea typeface="Microsoft YaHei"/>
              </a:rPr>
              <a:t>左侧导师区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负责选关、确认提示词、执行进度、完成复盘和练习按钮。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CDD6F4"/>
                </a:solidFill>
                <a:latin typeface="Microsoft YaHei"/>
                <a:ea typeface="Microsoft YaHei"/>
              </a:rPr>
              <a:t>右侧工作区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负责 OpenClaw 对话、源码读取和执行日志展示。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CDD6F4"/>
                </a:solidFill>
                <a:latin typeface="Microsoft YaHei"/>
                <a:ea typeface="Microsoft YaHei"/>
              </a:rPr>
              <a:t>WebView 扩展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可加载 terminal.html 或 openclaw-loader.html，扩展终端和高级界面。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A6E3A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执行体验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runOpenClaw 把真实网关调用和教学动画并行起来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开始执行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点击“呼叫 OpenClaw 协同开发”后进入 tutorialStep=2。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进度动画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animateProgress 根据当前关卡推进进度条和六步清单。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真实结果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sendOpenClawAgentTurn 等待 OpenClaw 回复，失败会回到确认页。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A6E3A1"/>
                </a:solidFill>
                <a:latin typeface="Microsoft YaHei"/>
                <a:ea typeface="Microsoft YaHei"/>
              </a:rPr>
              <a:t>完成闭环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成功后设置 100%，解锁下一关，并开放学生继续提问。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94E2D5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源码与日志工作区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让学生既能看结果，也能看过程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94E2D5"/>
                </a:solidFill>
                <a:latin typeface="Microsoft YaHei"/>
                <a:ea typeface="Microsoft YaHei"/>
              </a:rPr>
              <a:t>Source Tab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fetchBoardSourceFile 通过 /read-file 读取板端 Index.ets。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94E2D5"/>
                </a:solidFill>
                <a:latin typeface="Microsoft YaHei"/>
                <a:ea typeface="Microsoft YaHei"/>
              </a:rPr>
              <a:t>Logs Tab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currentExecutionLog 显示网关交接、构建、签名、安装等过程信息。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94E2D5"/>
                </a:solidFill>
                <a:latin typeface="Microsoft YaHei"/>
                <a:ea typeface="Microsoft YaHei"/>
              </a:rPr>
              <a:t>Chat Tab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chatMessages 用气泡展示学生输入和 OpenClaw 回复。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94E2D5"/>
                </a:solidFill>
                <a:latin typeface="Microsoft YaHei"/>
                <a:ea typeface="Microsoft YaHei"/>
              </a:rPr>
              <a:t>学习效果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学生可以从执行结果回看源码，再继续用自然语言追问。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汇报时可以强调的技术点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这份 HAP 的工程亮点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课程状态机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把多步骤工程流程组织成可学习、可复盘、可解锁的状态。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AI Agent 接入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通过 HTTP + WebSocket 把 OpenClaw 能力嵌入 ArkUI 应用。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受控自动化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提示词中写清动作边界，降低自动执行带来的误操作风险。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89B4FA"/>
                </a:solidFill>
                <a:latin typeface="Microsoft YaHei"/>
                <a:ea typeface="Microsoft YaHei"/>
              </a:rPr>
              <a:t>教学闭环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选关、执行、验证、总结、追问、练习都在同一个 HAP 内完成。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521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C2E7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700" b="1">
                <a:solidFill>
                  <a:srgbClr val="F7F9FF"/>
                </a:solidFill>
                <a:latin typeface="Microsoft YaHei"/>
                <a:ea typeface="Microsoft YaHei"/>
              </a:rPr>
              <a:t>推荐演示路线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0467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AEB8D1"/>
                </a:solidFill>
                <a:latin typeface="Microsoft YaHei"/>
                <a:ea typeface="Microsoft YaHei"/>
              </a:rPr>
              <a:t>按这条路线讲，听众最容易理解</a:t>
            </a:r>
          </a:p>
        </p:txBody>
      </p:sp>
      <p:sp>
        <p:nvSpPr>
          <p:cNvPr id="6" name="Rect 6"/>
          <p:cNvSpPr/>
          <p:nvPr/>
        </p:nvSpPr>
        <p:spPr>
          <a:xfrm>
            <a:off x="566928" y="1325880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9808" y="14173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第一步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49808" y="1655064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打开主页，说明这是 OpenHarmony ArkUI 智能交互式学习课程。</a:t>
            </a:r>
          </a:p>
        </p:txBody>
      </p:sp>
      <p:sp>
        <p:nvSpPr>
          <p:cNvPr id="9" name="Rect 9"/>
          <p:cNvSpPr/>
          <p:nvPr/>
        </p:nvSpPr>
        <p:spPr>
          <a:xfrm>
            <a:off x="566928" y="2084831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9808" y="217627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第二步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" y="2414015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进入第一关，展示提示词边界，再点击协同开发。</a:t>
            </a:r>
          </a:p>
        </p:txBody>
      </p:sp>
      <p:sp>
        <p:nvSpPr>
          <p:cNvPr id="12" name="Rect 12"/>
          <p:cNvSpPr/>
          <p:nvPr/>
        </p:nvSpPr>
        <p:spPr>
          <a:xfrm>
            <a:off x="566928" y="2843784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9808" y="2935224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第三步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49808" y="3172968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切换右侧日志和源码，说明执行过程可见、源码可查。</a:t>
            </a:r>
          </a:p>
        </p:txBody>
      </p:sp>
      <p:sp>
        <p:nvSpPr>
          <p:cNvPr id="15" name="Rect 15"/>
          <p:cNvSpPr/>
          <p:nvPr/>
        </p:nvSpPr>
        <p:spPr>
          <a:xfrm>
            <a:off x="566928" y="3602736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9808" y="3694176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第四步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9808" y="3931920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展示完成页、下一关解锁和底部继续提问能力。</a:t>
            </a:r>
          </a:p>
        </p:txBody>
      </p:sp>
      <p:sp>
        <p:nvSpPr>
          <p:cNvPr id="18" name="Rect 18"/>
          <p:cNvSpPr/>
          <p:nvPr/>
        </p:nvSpPr>
        <p:spPr>
          <a:xfrm>
            <a:off x="566928" y="4361688"/>
            <a:ext cx="10744200" cy="640080"/>
          </a:xfrm>
          <a:prstGeom prst="roundRect">
            <a:avLst/>
          </a:prstGeom>
          <a:solidFill>
            <a:srgbClr val="23283A"/>
          </a:solidFill>
          <a:ln w="12700">
            <a:solidFill>
              <a:srgbClr val="343B54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49808" y="4453127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b="1">
                <a:solidFill>
                  <a:srgbClr val="F5C2E7"/>
                </a:solidFill>
                <a:latin typeface="Microsoft YaHei"/>
                <a:ea typeface="Microsoft YaHei"/>
              </a:rPr>
              <a:t>第五步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49808" y="4690872"/>
            <a:ext cx="1042416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E6EAF5"/>
                </a:solidFill>
                <a:latin typeface="Microsoft YaHei"/>
                <a:ea typeface="Microsoft YaHei"/>
              </a:rPr>
              <a:t>最后打开练习关卡，说明从教学到自主练习的闭环。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66928" y="5742432"/>
            <a:ext cx="10607040" cy="219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77819B"/>
                </a:solidFill>
                <a:latin typeface="Microsoft YaHei"/>
                <a:ea typeface="Microsoft YaHei"/>
              </a:rPr>
              <a:t>结论：这个 HAP 的价值，是把 OpenHarmony 开发流水线变成可控、可解释、可练习的交互课程。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Claw Dark">
  <a:themeElements>
    <a:clrScheme name="OpenClaw">
      <a:dk1>
        <a:srgbClr val="121521"/>
      </a:dk1>
      <a:lt1>
        <a:srgbClr val="F7F9FF"/>
      </a:lt1>
      <a:dk2>
        <a:srgbClr val="23283A"/>
      </a:dk2>
      <a:lt2>
        <a:srgbClr val="CDD6F4"/>
      </a:lt2>
      <a:accent1>
        <a:srgbClr val="89B4FA"/>
      </a:accent1>
      <a:accent2>
        <a:srgbClr val="A6E3A1"/>
      </a:accent2>
      <a:accent3>
        <a:srgbClr val="F5C2E7"/>
      </a:accent3>
      <a:accent4>
        <a:srgbClr val="FAB387"/>
      </a:accent4>
      <a:accent5>
        <a:srgbClr val="94E2D5"/>
      </a:accent5>
      <a:accent6>
        <a:srgbClr val="CDD6F4"/>
      </a:accent6>
      <a:hlink>
        <a:srgbClr val="89B4FA"/>
      </a:hlink>
      <a:folHlink>
        <a:srgbClr val="F5C2E7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penClaw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OpenClaw HAP 智能学习应用讲解</dc:title>
  <dc:creator>Codex</dc:creator>
  <cp:lastModifiedBy>Codex</cp:lastModifiedBy>
  <dcterms:created xsi:type="dcterms:W3CDTF">2026-06-05T00:00:00Z</dcterms:created>
  <dcterms:modified xsi:type="dcterms:W3CDTF">2026-06-05T00:00:00Z</dcterms:modified>
</cp:coreProperties>
</file>